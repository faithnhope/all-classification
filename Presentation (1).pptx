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Sora SemiBold"/>
      <p:regular r:id="rId25"/>
      <p:bold r:id="rId26"/>
    </p:embeddedFont>
    <p:embeddedFont>
      <p:font typeface="IBM Plex Sans Medium"/>
      <p:regular r:id="rId27"/>
      <p:bold r:id="rId28"/>
      <p:italic r:id="rId29"/>
      <p:boldItalic r:id="rId30"/>
    </p:embeddedFont>
    <p:embeddedFont>
      <p:font typeface="Sora Light"/>
      <p:regular r:id="rId31"/>
      <p:bold r:id="rId32"/>
    </p:embeddedFont>
    <p:embeddedFont>
      <p:font typeface="Sora ExtraLight"/>
      <p:regular r:id="rId33"/>
      <p:bold r:id="rId34"/>
    </p:embeddedFont>
    <p:embeddedFont>
      <p:font typeface="Sora"/>
      <p:regular r:id="rId35"/>
      <p:bold r:id="rId36"/>
    </p:embeddedFont>
    <p:embeddedFont>
      <p:font typeface="Sora Medium"/>
      <p:regular r:id="rId37"/>
      <p:bold r:id="rId38"/>
    </p:embeddedFont>
    <p:embeddedFont>
      <p:font typeface="IBM Plex Sa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B43158-C58A-413B-9D20-E8040C1A6E89}">
  <a:tblStyle styleId="{04B43158-C58A-413B-9D20-E8040C1A6E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.fntdata"/><Relationship Id="rId42" Type="http://schemas.openxmlformats.org/officeDocument/2006/relationships/font" Target="fonts/IBMPlexSansSemiBold-boldItalic.fntdata"/><Relationship Id="rId41" Type="http://schemas.openxmlformats.org/officeDocument/2006/relationships/font" Target="fonts/IBMPlexSans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raLight-regular.fntdata"/><Relationship Id="rId30" Type="http://schemas.openxmlformats.org/officeDocument/2006/relationships/font" Target="fonts/IBMPlexSansMedium-boldItalic.fntdata"/><Relationship Id="rId33" Type="http://schemas.openxmlformats.org/officeDocument/2006/relationships/font" Target="fonts/SoraExtraLight-regular.fntdata"/><Relationship Id="rId32" Type="http://schemas.openxmlformats.org/officeDocument/2006/relationships/font" Target="fonts/SoraLight-bold.fntdata"/><Relationship Id="rId35" Type="http://schemas.openxmlformats.org/officeDocument/2006/relationships/font" Target="fonts/Sora-regular.fntdata"/><Relationship Id="rId34" Type="http://schemas.openxmlformats.org/officeDocument/2006/relationships/font" Target="fonts/SoraExtraLight-bold.fntdata"/><Relationship Id="rId37" Type="http://schemas.openxmlformats.org/officeDocument/2006/relationships/font" Target="fonts/SoraMedium-regular.fntdata"/><Relationship Id="rId36" Type="http://schemas.openxmlformats.org/officeDocument/2006/relationships/font" Target="fonts/Sora-bold.fntdata"/><Relationship Id="rId39" Type="http://schemas.openxmlformats.org/officeDocument/2006/relationships/font" Target="fonts/IBMPlexSansSemiBold-regular.fntdata"/><Relationship Id="rId38" Type="http://schemas.openxmlformats.org/officeDocument/2006/relationships/font" Target="fonts/SoraMedium-bold.fntdata"/><Relationship Id="rId20" Type="http://schemas.openxmlformats.org/officeDocument/2006/relationships/slide" Target="slides/slide13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26" Type="http://schemas.openxmlformats.org/officeDocument/2006/relationships/font" Target="fonts/SoraSemiBold-bold.fntdata"/><Relationship Id="rId25" Type="http://schemas.openxmlformats.org/officeDocument/2006/relationships/font" Target="fonts/SoraSemiBold-regular.fntdata"/><Relationship Id="rId28" Type="http://schemas.openxmlformats.org/officeDocument/2006/relationships/font" Target="fonts/IBMPlexSansMedium-bold.fntdata"/><Relationship Id="rId27" Type="http://schemas.openxmlformats.org/officeDocument/2006/relationships/font" Target="fonts/IBMPlexSansMedium-regular.fntdata"/><Relationship Id="rId29" Type="http://schemas.openxmlformats.org/officeDocument/2006/relationships/font" Target="fonts/IBMPlexSansMedium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349dd0b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349dd0b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349dd0b5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d349dd0b5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349dd0b5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349dd0b5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d349dd0b5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d349dd0b5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d349dd0b5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d349dd0b5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d349dd0b5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d349dd0b5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d349dd0b51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d349dd0b51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d349dd0b5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d349dd0b5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d349dd0b5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d349dd0b5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d349dd0b5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d349dd0b5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d349dd0b5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d349dd0b5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d349dd0b51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d349dd0b51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d349dd0b51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d349dd0b51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andrewmvd/leukemia-classificati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Leukemia Image Classification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4"/>
          <p:cNvSpPr/>
          <p:nvPr/>
        </p:nvSpPr>
        <p:spPr>
          <a:xfrm rot="1181745">
            <a:off x="3565253" y="751191"/>
            <a:ext cx="2013499" cy="1991018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9" name="Google Shape;939;p64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0" name="Google Shape;940;p64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1" name="Google Shape;941;p64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64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3" name="Google Shape;943;p64" title="IMG_1237.HEIC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655" l="0" r="15340" t="25845"/>
          <a:stretch/>
        </p:blipFill>
        <p:spPr>
          <a:xfrm>
            <a:off x="1200750" y="984738"/>
            <a:ext cx="1649400" cy="1649400"/>
          </a:xfrm>
          <a:prstGeom prst="ellipse">
            <a:avLst/>
          </a:prstGeom>
        </p:spPr>
      </p:pic>
      <p:sp>
        <p:nvSpPr>
          <p:cNvPr id="944" name="Google Shape;944;p6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45" name="Google Shape;945;p6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46" name="Google Shape;946;p64"/>
          <p:cNvSpPr txBox="1"/>
          <p:nvPr>
            <p:ph idx="1" type="subTitle"/>
          </p:nvPr>
        </p:nvSpPr>
        <p:spPr>
          <a:xfrm>
            <a:off x="947750" y="324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Hi, I’m William, a senior majoring in Mathematics and minoring in Computer Science. I love math, and its applications in areas such as Machine Learning. </a:t>
            </a:r>
            <a:endParaRPr/>
          </a:p>
        </p:txBody>
      </p:sp>
      <p:sp>
        <p:nvSpPr>
          <p:cNvPr id="947" name="Google Shape;947;p6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William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48" name="Google Shape;948;p64"/>
          <p:cNvSpPr txBox="1"/>
          <p:nvPr>
            <p:ph idx="6" type="subTitle"/>
          </p:nvPr>
        </p:nvSpPr>
        <p:spPr>
          <a:xfrm>
            <a:off x="3528600" y="324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Hi, my name is Jerry, I’m a </a:t>
            </a:r>
            <a:r>
              <a:rPr lang="en"/>
              <a:t>senior majoring in Computer Science and Applied Math.</a:t>
            </a:r>
            <a:endParaRPr/>
          </a:p>
        </p:txBody>
      </p:sp>
      <p:sp>
        <p:nvSpPr>
          <p:cNvPr id="949" name="Google Shape;949;p6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Jerry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50" name="Google Shape;950;p6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Meet the team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56" name="Google Shape;956;p65"/>
          <p:cNvSpPr txBox="1"/>
          <p:nvPr>
            <p:ph type="title"/>
          </p:nvPr>
        </p:nvSpPr>
        <p:spPr>
          <a:xfrm>
            <a:off x="115025" y="127415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Acute lymphoblastic leukemia is the most common cancer for children</a:t>
            </a:r>
            <a:endParaRPr/>
          </a:p>
        </p:txBody>
      </p:sp>
      <p:sp>
        <p:nvSpPr>
          <p:cNvPr id="957" name="Google Shape;957;p6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Issue: Diagnosing ALL requires an expert to carefully analyze blood samples.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We used machine learning to analyze the blood samples for us.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2" name="Google Shape;962;p66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66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4" name="Google Shape;964;p66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5" name="Google Shape;965;p66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6" name="Google Shape;966;p66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66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69" name="Google Shape;969;p66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70" name="Google Shape;970;p66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71" name="Google Shape;971;p66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72" name="Google Shape;972;p66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73" name="Google Shape;973;p66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974" name="Google Shape;974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75" name="Google Shape;975;p66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976" name="Google Shape;976;p66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Convolutional Neural Networks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CNN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ResNet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EfficientNet</a:t>
            </a:r>
            <a:endParaRPr/>
          </a:p>
        </p:txBody>
      </p:sp>
      <p:sp>
        <p:nvSpPr>
          <p:cNvPr id="977" name="Google Shape;977;p66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ViT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ConViT</a:t>
            </a:r>
            <a:endParaRPr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Swin-T</a:t>
            </a:r>
            <a:endParaRPr/>
          </a:p>
        </p:txBody>
      </p:sp>
      <p:sp>
        <p:nvSpPr>
          <p:cNvPr id="978" name="Google Shape;978;p66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Classifiers</a:t>
            </a:r>
            <a:endParaRPr/>
          </a:p>
        </p:txBody>
      </p:sp>
      <p:sp>
        <p:nvSpPr>
          <p:cNvPr id="979" name="Google Shape;979;p66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Results/Future Steps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7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985" name="Google Shape;985;p67"/>
          <p:cNvSpPr txBox="1"/>
          <p:nvPr>
            <p:ph idx="1" type="body"/>
          </p:nvPr>
        </p:nvSpPr>
        <p:spPr>
          <a:xfrm>
            <a:off x="3614400" y="566600"/>
            <a:ext cx="5529600" cy="44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Dataset: </a:t>
            </a:r>
            <a:r>
              <a:rPr lang="en" u="sng">
                <a:solidFill>
                  <a:schemeClr val="hlink"/>
                </a:solidFill>
                <a:latin typeface="Sora Light"/>
                <a:ea typeface="Sora Light"/>
                <a:cs typeface="Sora Light"/>
                <a:sym typeface="Sora Light"/>
                <a:hlinkClick r:id="rId3"/>
              </a:rPr>
              <a:t>https://www.kaggle.com/datasets/andrewmvd/leukemia-classification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[3]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Two classes: ALL(leukemia positive), and HEM(healthy cells)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■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10k samples loaded with multithreading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Loaded with OpenCV (skips corrupted images)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Imbalance of positive and negative classes: randomly sample an equal amount from bigger class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■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Split into train and test at 80-20 rates w sklearn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Load into custom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Data Loader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class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■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Converts to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RGB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and resizes to 224x224 (medical imaging convention)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■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Pixel Normalization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■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Data augmentation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Medical imaging data have low variance, randomly flip/rotate images to generate variated data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8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Classifier</a:t>
            </a:r>
            <a:endParaRPr/>
          </a:p>
        </p:txBody>
      </p:sp>
      <p:sp>
        <p:nvSpPr>
          <p:cNvPr id="991" name="Google Shape;991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8"/>
          <p:cNvSpPr txBox="1"/>
          <p:nvPr>
            <p:ph idx="1" type="body"/>
          </p:nvPr>
        </p:nvSpPr>
        <p:spPr>
          <a:xfrm>
            <a:off x="4722200" y="5383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Images are 2d matrices of pixel values (int)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First idea - binary Logistic Regression classifier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Flatten image 224x224x3 -&gt; 150528 features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3 - fold cross validation training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Results:  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Average Accuracy: 72.78%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Average Precision: 92.96%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Mean Recall: 72.78%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Mean F1 Score: 72.84%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Issues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Only position of pixels and what color they are matter and doesn’t generalize, no </a:t>
            </a:r>
            <a:r>
              <a:rPr lang="en"/>
              <a:t>feature recognition in images.</a:t>
            </a:r>
            <a:endParaRPr/>
          </a:p>
        </p:txBody>
      </p:sp>
      <p:sp>
        <p:nvSpPr>
          <p:cNvPr id="993" name="Google Shape;993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4" name="Google Shape;9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25" y="1406502"/>
            <a:ext cx="4047200" cy="35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9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</a:t>
            </a:r>
            <a:endParaRPr/>
          </a:p>
        </p:txBody>
      </p:sp>
      <p:sp>
        <p:nvSpPr>
          <p:cNvPr id="1000" name="Google Shape;1000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9"/>
          <p:cNvSpPr txBox="1"/>
          <p:nvPr>
            <p:ph idx="1" type="body"/>
          </p:nvPr>
        </p:nvSpPr>
        <p:spPr>
          <a:xfrm>
            <a:off x="4722200" y="538350"/>
            <a:ext cx="4371600" cy="4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Convolutions</a:t>
            </a:r>
            <a:r>
              <a:rPr lang="en"/>
              <a:t> - small filters slide across images and can detect features like edges, lines, textures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Nearby pixels processed together providing more information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Model Architecture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3 Convolutional Blocks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Convolution -&gt; Batch Normalization-&gt;ReLu activation -&gt; Max Pooling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Fully Connected linear classifier with 0.5 Dropout.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Trained with:’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Adam optimizer (Learning rate 1e-4, Cross Entropy Loss)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Results: 86% accuracy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Limitations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Shallow architecture + trained from scratch (requires much more data + deeper levels for meaningful data extraction)</a:t>
            </a:r>
            <a:endParaRPr/>
          </a:p>
        </p:txBody>
      </p:sp>
      <p:sp>
        <p:nvSpPr>
          <p:cNvPr id="1002" name="Google Shape;1002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0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Tuning</a:t>
            </a:r>
            <a:endParaRPr/>
          </a:p>
        </p:txBody>
      </p:sp>
      <p:sp>
        <p:nvSpPr>
          <p:cNvPr id="1008" name="Google Shape;1008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70"/>
          <p:cNvSpPr txBox="1"/>
          <p:nvPr>
            <p:ph idx="1" type="body"/>
          </p:nvPr>
        </p:nvSpPr>
        <p:spPr>
          <a:xfrm>
            <a:off x="4722200" y="538350"/>
            <a:ext cx="4371600" cy="4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ResNet 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Residual connections in layers - solves vanishing gradients  and deeper layers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Loaded </a:t>
            </a:r>
            <a:r>
              <a:rPr lang="en"/>
              <a:t>Resnet18</a:t>
            </a:r>
            <a:r>
              <a:rPr lang="en"/>
              <a:t> pretrained on ImageNet replaced with a binary classifier, then trained on our data.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Accuracy: 76% (not sure why this sucked)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EfficientNet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Compound scaling in images (balances depth,width/resolution)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EfficientNet-B0 loaded and trained and augmented in same way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Accuracy: ~91-94%</a:t>
            </a:r>
            <a:endParaRPr/>
          </a:p>
        </p:txBody>
      </p:sp>
      <p:sp>
        <p:nvSpPr>
          <p:cNvPr id="1010" name="Google Shape;1010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1692063"/>
            <a:ext cx="256222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0750" y="2146963"/>
            <a:ext cx="25336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1"/>
          <p:cNvSpPr txBox="1"/>
          <p:nvPr>
            <p:ph type="title"/>
          </p:nvPr>
        </p:nvSpPr>
        <p:spPr>
          <a:xfrm>
            <a:off x="115025" y="502775"/>
            <a:ext cx="45039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Transformers</a:t>
            </a:r>
            <a:endParaRPr/>
          </a:p>
        </p:txBody>
      </p:sp>
      <p:sp>
        <p:nvSpPr>
          <p:cNvPr id="1018" name="Google Shape;1018;p7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71"/>
          <p:cNvSpPr txBox="1"/>
          <p:nvPr>
            <p:ph idx="1" type="body"/>
          </p:nvPr>
        </p:nvSpPr>
        <p:spPr>
          <a:xfrm>
            <a:off x="4722200" y="538350"/>
            <a:ext cx="4371600" cy="37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Self-Attention - Allows every patch of the image to interact with every other patch - provides global context rather than just local context within filters.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Architecture -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Transformer Encoder layers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Multi-head attention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Feed forward Multi-Layer </a:t>
            </a:r>
            <a:r>
              <a:rPr lang="en"/>
              <a:t>Perceptron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16x16 patch size trained for 25 epochs w Cross entropy loss and LR 0.01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Results: 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Transformers normally require a lot more data to perform well 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After class equalization we have ~6000 samples with 80-20 train test splits</a:t>
            </a:r>
            <a:endParaRPr/>
          </a:p>
        </p:txBody>
      </p:sp>
      <p:sp>
        <p:nvSpPr>
          <p:cNvPr id="1020" name="Google Shape;1020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1" name="Google Shape;1021;p71"/>
          <p:cNvGraphicFramePr/>
          <p:nvPr/>
        </p:nvGraphicFramePr>
        <p:xfrm>
          <a:off x="850550" y="132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{04B43158-C58A-413B-9D20-E8040C1A6E89}</a:tableStyleId>
              </a:tblPr>
              <a:tblGrid>
                <a:gridCol w="668925"/>
                <a:gridCol w="192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84</a:t>
                      </a:r>
                      <a:r>
                        <a:rPr b="1" lang="en" sz="1800"/>
                        <a:t>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F1 score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82</a:t>
                      </a:r>
                      <a:r>
                        <a:rPr b="1" lang="en" sz="1800"/>
                        <a:t>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sensitivity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67</a:t>
                      </a:r>
                      <a:r>
                        <a:rPr b="1" lang="en" sz="1800"/>
                        <a:t>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specificity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2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ConViT</a:t>
            </a:r>
            <a:endParaRPr/>
          </a:p>
        </p:txBody>
      </p:sp>
      <p:sp>
        <p:nvSpPr>
          <p:cNvPr id="1027" name="Google Shape;1027;p7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72"/>
          <p:cNvSpPr txBox="1"/>
          <p:nvPr>
            <p:ph idx="1" type="body"/>
          </p:nvPr>
        </p:nvSpPr>
        <p:spPr>
          <a:xfrm>
            <a:off x="4722200" y="5383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Convolutional Visual Transformers from “ConViT: Improving Vision Transformers with Soft Convolutional Inductive Biases.” [1]</a:t>
            </a:r>
            <a:endParaRPr/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Has </a:t>
            </a:r>
            <a:r>
              <a:rPr lang="en"/>
              <a:t>soft</a:t>
            </a:r>
            <a:r>
              <a:rPr lang="en"/>
              <a:t> convolutional bias of CNNs to get local properties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Uses ViT’s self-attention to get the global </a:t>
            </a:r>
            <a:r>
              <a:rPr lang="en"/>
              <a:t>picture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Able to perform with less training data. </a:t>
            </a:r>
            <a:endParaRPr/>
          </a:p>
        </p:txBody>
      </p:sp>
      <p:sp>
        <p:nvSpPr>
          <p:cNvPr id="1029" name="Google Shape;1029;p7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0" name="Google Shape;1030;p72"/>
          <p:cNvGraphicFramePr/>
          <p:nvPr/>
        </p:nvGraphicFramePr>
        <p:xfrm>
          <a:off x="907850" y="127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{04B43158-C58A-413B-9D20-E8040C1A6E89}</a:tableStyleId>
              </a:tblPr>
              <a:tblGrid>
                <a:gridCol w="668925"/>
                <a:gridCol w="192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92%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F1 score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92%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sensitivity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83</a:t>
                      </a:r>
                      <a:r>
                        <a:rPr b="1" lang="en" sz="1800"/>
                        <a:t>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specificity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Swin-T</a:t>
            </a:r>
            <a:endParaRPr/>
          </a:p>
        </p:txBody>
      </p:sp>
      <p:sp>
        <p:nvSpPr>
          <p:cNvPr id="1036" name="Google Shape;1036;p73"/>
          <p:cNvSpPr txBox="1"/>
          <p:nvPr>
            <p:ph idx="3" type="subTitle"/>
          </p:nvPr>
        </p:nvSpPr>
        <p:spPr>
          <a:xfrm>
            <a:off x="474225" y="1881425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1037" name="Google Shape;1037;p73"/>
          <p:cNvSpPr txBox="1"/>
          <p:nvPr>
            <p:ph idx="4" type="subTitle"/>
          </p:nvPr>
        </p:nvSpPr>
        <p:spPr>
          <a:xfrm>
            <a:off x="3338775" y="1881425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038" name="Google Shape;1038;p73"/>
          <p:cNvSpPr txBox="1"/>
          <p:nvPr>
            <p:ph idx="5" type="subTitle"/>
          </p:nvPr>
        </p:nvSpPr>
        <p:spPr>
          <a:xfrm>
            <a:off x="6203325" y="1881425"/>
            <a:ext cx="27030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Takeaways</a:t>
            </a:r>
            <a:endParaRPr/>
          </a:p>
        </p:txBody>
      </p:sp>
      <p:sp>
        <p:nvSpPr>
          <p:cNvPr id="1039" name="Google Shape;1039;p73"/>
          <p:cNvSpPr txBox="1"/>
          <p:nvPr>
            <p:ph idx="6" type="body"/>
          </p:nvPr>
        </p:nvSpPr>
        <p:spPr>
          <a:xfrm>
            <a:off x="6203325" y="2602375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Local feature attention</a:t>
            </a:r>
            <a:r>
              <a:rPr lang="en"/>
              <a:t> </a:t>
            </a:r>
            <a:br>
              <a:rPr lang="en"/>
            </a:br>
            <a:r>
              <a:rPr lang="en"/>
              <a:t>Swin-T’s shifted windows allow for close examination of nucleus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Fast</a:t>
            </a:r>
            <a:br>
              <a:rPr b="1" lang="en"/>
            </a:br>
            <a:r>
              <a:rPr lang="en"/>
              <a:t>Executes in seconds, making it viable to use in rural clinics</a:t>
            </a:r>
            <a:endParaRPr/>
          </a:p>
        </p:txBody>
      </p:sp>
      <p:pic>
        <p:nvPicPr>
          <p:cNvPr id="1040" name="Google Shape;104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752" y="2602381"/>
            <a:ext cx="2827549" cy="20915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1" name="Google Shape;1041;p73"/>
          <p:cNvGraphicFramePr/>
          <p:nvPr/>
        </p:nvGraphicFramePr>
        <p:xfrm>
          <a:off x="331575" y="260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{04B43158-C58A-413B-9D20-E8040C1A6E89}</a:tableStyleId>
              </a:tblPr>
              <a:tblGrid>
                <a:gridCol w="668925"/>
                <a:gridCol w="192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97%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F1 score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99%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sensitivity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98%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specificity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2" name="Google Shape;1042;p73"/>
          <p:cNvSpPr txBox="1"/>
          <p:nvPr/>
        </p:nvSpPr>
        <p:spPr>
          <a:xfrm>
            <a:off x="492750" y="1267725"/>
            <a:ext cx="825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best method uses Shifted Windows Transformers from “Swin Transformer: Hierarchical Vision Transformer using Shifted Windows” [2].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1048" name="Google Shape;1048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D’Ascoli, S., Touvron, H., Leavitt, M.L., Morcos, A.S., Biroli, G. &amp;amp; Sagun, L.. (2021). </a:t>
            </a:r>
            <a:r>
              <a:rPr i="1" lang="en"/>
              <a:t>ConViT: Improving Vision Transformers with Soft Convolutional Inductive Biases., in Proceedings of Machine Learning Research</a:t>
            </a:r>
            <a:r>
              <a:rPr lang="en"/>
              <a:t> 139:2286-2296 Available from https://proceedings.mlr.press/v139/d-ascoli21a.html.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Liu, Z., Lin, Yutong, L., Cao, Y., Hu, H., Wei, Y., Zhang, Z., Lin, S., Guo, B. (2021), </a:t>
            </a:r>
            <a:r>
              <a:rPr i="1" lang="en"/>
              <a:t>Swin Transformer: Hierarchical Vision Transformer using Shifted Windows., </a:t>
            </a:r>
            <a:r>
              <a:rPr lang="en"/>
              <a:t>in arXiv:2103.14030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Gupta, A., &amp; Gupta, R. (2019). </a:t>
            </a:r>
            <a:r>
              <a:rPr i="1" lang="en"/>
              <a:t>ALL Challenge dataset of ISBI 2019</a:t>
            </a:r>
            <a:r>
              <a:rPr lang="en"/>
              <a:t> [Data set]. The Cancer Imaging Archive. https://doi.org/10.7937/tcia.2019.dc64i46r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5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